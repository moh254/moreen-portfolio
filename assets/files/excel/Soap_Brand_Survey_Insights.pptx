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charts/chart1.xml" ContentType="application/vnd.openxmlformats-officedocument.drawingml.chart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charts/chart2.xml" ContentType="application/vnd.openxmlformats-officedocument.drawingml.chart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sights" id="{933f276b-d375-1d96-4c5c-3561807912da}">
          <p14:sldIdLst>
            <p14:sldId id="256"/>
            <p14:sldId id="257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Average satisfaction</c:v>
                </c:pt>
              </c:strCache>
            </c:strRef>
          </c:tx>
          <c:spPr>
            <a:solidFill>
              <a:srgbClr val="2F6DB5"/>
            </a:solidFill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1" i="0" strike="noStrike" sz="1400" u="none">
                    <a:solidFill>
                      <a:srgbClr val="1F2937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Brand A</c:v>
                  </c:pt>
                  <c:pt idx="1">
                    <c:v>Brand B</c:v>
                  </c:pt>
                  <c:pt idx="2">
                    <c:v>Brand C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4.5</c:v>
                </c:pt>
                <c:pt idx="1">
                  <c:v>5</c:v>
                </c:pt>
                <c:pt idx="2">
                  <c:v>2.5</c:v>
                </c:pt>
              </c:numCache>
            </c:numRef>
          </c:val>
        </c:ser>
        <c:dLbls>
          <c:numFmt formatCode="0.0" sourceLinked="0"/>
          <c:txPr>
            <a:bodyPr/>
            <a:lstStyle/>
            <a:p>
              <a:pPr>
                <a:defRPr b="1" i="0" strike="noStrike" sz="1400" u="none">
                  <a:solidFill>
                    <a:srgbClr val="1F2937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300" b="0" i="0" u="none" strike="noStrike">
                <a:solidFill>
                  <a:srgbClr val="1F2937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5"/>
          <c:min val="0"/>
        </c:scaling>
        <c:delete val="0"/>
        <c:axPos val="l"/>
        <c:majorGridlines>
          <c:spPr>
            <a:ln w="9525" cap="flat">
              <a:solidFill>
                <a:srgbClr val="E5E7EB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8A94A6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  <c:majorUnit val="1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Responses</c:v>
                </c:pt>
              </c:strCache>
            </c:strRef>
          </c:tx>
          <c:spPr>
            <a:solidFill>
              <a:srgbClr val="2F6DB5"/>
            </a:solidFill>
            <a:effectLst/>
          </c:spPr>
          <c:invertIfNegative val="0"/>
          <c:dLbls>
            <c:numFmt formatCode="0" sourceLinked="0"/>
            <c:txPr>
              <a:bodyPr/>
              <a:lstStyle/>
              <a:p>
                <a:pPr>
                  <a:defRPr b="1" i="0" strike="noStrike" sz="1400" u="none">
                    <a:solidFill>
                      <a:srgbClr val="1F2937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Brand trust</c:v>
                  </c:pt>
                  <c:pt idx="1">
                    <c:v>Availability</c:v>
                  </c:pt>
                  <c:pt idx="2">
                    <c:v>Scent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3</c:v>
                </c:pt>
                <c:pt idx="1">
                  <c:v>1</c:v>
                </c:pt>
                <c:pt idx="2">
                  <c:v>1</c:v>
                </c:pt>
              </c:numCache>
            </c:numRef>
          </c:val>
        </c:ser>
        <c:dLbls>
          <c:numFmt formatCode="0" sourceLinked="0"/>
          <c:txPr>
            <a:bodyPr/>
            <a:lstStyle/>
            <a:p>
              <a:pPr>
                <a:defRPr b="1" i="0" strike="noStrike" sz="1400" u="none">
                  <a:solidFill>
                    <a:srgbClr val="1F2937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300" b="0" i="0" u="none" strike="noStrike">
                <a:solidFill>
                  <a:srgbClr val="1F2937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4"/>
          <c:min val="0"/>
        </c:scaling>
        <c:delete val="0"/>
        <c:axPos val="l"/>
        <c:majorGridlines>
          <c:spPr>
            <a:ln w="9525" cap="flat">
              <a:solidFill>
                <a:srgbClr val="E5E7EB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8A94A6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  <c:majorUnit val="1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HART_SLID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466344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5"/>
                </a:solidFill>
              </a:rPr>
              <a:t>Practice survey built in KoboToolbox | Sample of 5 test responses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66344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66344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title"/>
          <p:cNvSpPr txBox="1"/>
          <p:nvPr/>
        </p:nvSpPr>
        <p:spPr>
          <a:xfrm>
            <a:off x="548640" y="320040"/>
            <a:ext cx="8046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Brands A and B satisfy; Brand C lags</a:t>
            </a:r>
            <a:endParaRPr lang="en-US" sz="28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548640" y="1280160"/>
          <a:ext cx="5394960" cy="32004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Callout card"/>
          <p:cNvSpPr/>
          <p:nvPr/>
        </p:nvSpPr>
        <p:spPr>
          <a:xfrm>
            <a:off x="6263640" y="1417320"/>
            <a:ext cx="2331720" cy="292608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Callout stat"/>
          <p:cNvSpPr txBox="1"/>
          <p:nvPr/>
        </p:nvSpPr>
        <p:spPr>
          <a:xfrm>
            <a:off x="6400800" y="1600200"/>
            <a:ext cx="2057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chemeClr val="accent1"/>
                </a:solidFill>
              </a:rPr>
              <a:t>5.0</a:t>
            </a:r>
            <a:endParaRPr lang="en-US" sz="4000" dirty="0"/>
          </a:p>
        </p:txBody>
      </p:sp>
      <p:sp>
        <p:nvSpPr>
          <p:cNvPr id="6" name="Callout text"/>
          <p:cNvSpPr txBox="1"/>
          <p:nvPr/>
        </p:nvSpPr>
        <p:spPr>
          <a:xfrm>
            <a:off x="6400800" y="2468880"/>
            <a:ext cx="2057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Brand B has the highest average satisfaction (scale 1 to 5).</a:t>
            </a:r>
            <a:endParaRPr lang="en-US" sz="1400" dirty="0"/>
          </a:p>
        </p:txBody>
      </p:sp>
      <p:sp>
        <p:nvSpPr>
          <p:cNvPr id="7" name="Callout note"/>
          <p:cNvSpPr txBox="1"/>
          <p:nvPr/>
        </p:nvSpPr>
        <p:spPr>
          <a:xfrm>
            <a:off x="6400800" y="3291840"/>
            <a:ext cx="2057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Brand A: 4.5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Brand C: 2.5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66344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title"/>
          <p:cNvSpPr txBox="1"/>
          <p:nvPr/>
        </p:nvSpPr>
        <p:spPr>
          <a:xfrm>
            <a:off x="548640" y="320040"/>
            <a:ext cx="8046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Brand trust drives most purchases</a:t>
            </a:r>
            <a:endParaRPr lang="en-US" sz="28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548640" y="1280160"/>
          <a:ext cx="5394960" cy="32004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Callout card"/>
          <p:cNvSpPr/>
          <p:nvPr/>
        </p:nvSpPr>
        <p:spPr>
          <a:xfrm>
            <a:off x="6263640" y="1417320"/>
            <a:ext cx="2331720" cy="292608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Callout stat"/>
          <p:cNvSpPr txBox="1"/>
          <p:nvPr/>
        </p:nvSpPr>
        <p:spPr>
          <a:xfrm>
            <a:off x="6400800" y="1600200"/>
            <a:ext cx="2057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chemeClr val="accent1"/>
                </a:solidFill>
              </a:rPr>
              <a:t>3 of 5</a:t>
            </a:r>
            <a:endParaRPr lang="en-US" sz="4000" dirty="0"/>
          </a:p>
        </p:txBody>
      </p:sp>
      <p:sp>
        <p:nvSpPr>
          <p:cNvPr id="6" name="Callout text"/>
          <p:cNvSpPr txBox="1"/>
          <p:nvPr/>
        </p:nvSpPr>
        <p:spPr>
          <a:xfrm>
            <a:off x="6400800" y="2468880"/>
            <a:ext cx="2057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respondents said brand trust matters most when choosing soap.</a:t>
            </a:r>
            <a:endParaRPr lang="en-US" sz="1400" dirty="0"/>
          </a:p>
        </p:txBody>
      </p:sp>
      <p:sp>
        <p:nvSpPr>
          <p:cNvPr id="7" name="Callout note"/>
          <p:cNvSpPr txBox="1"/>
          <p:nvPr/>
        </p:nvSpPr>
        <p:spPr>
          <a:xfrm>
            <a:off x="6400800" y="3291840"/>
            <a:ext cx="2057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Availability: 1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Scent: 1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Price: 0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66344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Kobo Practice">
  <a:themeElements>
    <a:clrScheme name="Kobo Practice">
      <a:dk1>
        <a:srgbClr val="1F2937"/>
      </a:dk1>
      <a:lt1>
        <a:srgbClr val="FFFFFF"/>
      </a:lt1>
      <a:dk2>
        <a:srgbClr val="1F3A5F"/>
      </a:dk2>
      <a:lt2>
        <a:srgbClr val="EEF2F7"/>
      </a:lt2>
      <a:accent1>
        <a:srgbClr val="2F6DB5"/>
      </a:accent1>
      <a:accent2>
        <a:srgbClr val="5B8FD0"/>
      </a:accent2>
      <a:accent3>
        <a:srgbClr val="F2A541"/>
      </a:accent3>
      <a:accent4>
        <a:srgbClr val="3F9C8B"/>
      </a:accent4>
      <a:accent5>
        <a:srgbClr val="8A94A6"/>
      </a:accent5>
      <a:accent6>
        <a:srgbClr val="C65D4B"/>
      </a:accent6>
      <a:hlink>
        <a:srgbClr val="2F6DB5"/>
      </a:hlink>
      <a:folHlink>
        <a:srgbClr val="8A94A6"/>
      </a:folHlink>
    </a:clrScheme>
    <a:fontScheme name="Kobo Practice">
      <a:majorFont>
        <a:latin typeface="Calibr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Soap Brand Survey - Practice Insights</dc:title>
  <dc:subject>PptxGenJS Presentation</dc:subject>
  <dc:creator>Moreen Gatwiri</dc:creator>
  <cp:lastModifiedBy>Moreen Gatwiri</cp:lastModifiedBy>
  <cp:revision>1</cp:revision>
  <dcterms:created xsi:type="dcterms:W3CDTF">2026-10-17T05:14:59Z</dcterms:created>
  <dcterms:modified xsi:type="dcterms:W3CDTF">2026-10-17T05:14:59Z</dcterms:modified>
</cp:coreProperties>
</file>